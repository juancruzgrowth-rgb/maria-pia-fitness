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58368" y="150876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Estrategia VSL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85800" y="226771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D4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Coach Fitness Online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713232" y="3035808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Cómo usar un Video Sales Letter para vender un plan de entrenamiento y nutrición entregado dentro de Skool.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04088" y="3977640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4046220"/>
            <a:ext cx="1581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70A14"/>
                </a:solidFill>
              </a:rPr>
              <a:t>MARÍA PÍA FITNESS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713232" y="63093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Preparado por NOVA DIGITAL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Resumen ejecutivo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656" y="1188720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La decisión estratégica sobre el VSL y la página de venta.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01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  <p:sp>
        <p:nvSpPr>
          <p:cNvPr id="10" name="Shape 8"/>
          <p:cNvSpPr/>
          <p:nvPr/>
        </p:nvSpPr>
        <p:spPr>
          <a:xfrm>
            <a:off x="713232" y="1664208"/>
            <a:ext cx="5303520" cy="3611880"/>
          </a:xfrm>
          <a:prstGeom prst="roundRect">
            <a:avLst>
              <a:gd name="adj" fmla="val 3038"/>
            </a:avLst>
          </a:prstGeom>
          <a:solidFill>
            <a:srgbClr val="182235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9019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Sí, el VSL encaja muy bien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60120" y="2574036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248716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Nos permite vender sin depender de una llamada de ventas.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960120" y="3012948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292608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Educa, genera confianza y prepara a la persona para comprar.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960120" y="3451860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4712" y="336499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Funciona especialmente bien cuando venimos desde IG, TikTok, YouTube o anuncios.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960120" y="3890772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24712" y="380390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La página tiene que llevar a una sola acción: pagar, aplicar o escribir por WhatsApp.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6446520" y="1664208"/>
            <a:ext cx="4663440" cy="3611880"/>
          </a:xfrm>
          <a:prstGeom prst="roundRect">
            <a:avLst>
              <a:gd name="adj" fmla="val 3038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19019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</a:rPr>
              <a:t>Pero el centro no es Skool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20840" y="2496312"/>
            <a:ext cx="38862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Skool es la plataforma de entrega. La persona no compra “acceso a Skool”. Compra claridad, acompañamiento, estructura, constancia y una transformación física realista.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720840" y="4133088"/>
            <a:ext cx="3200400" cy="0"/>
          </a:xfrm>
          <a:prstGeom prst="line">
            <a:avLst/>
          </a:prstGeom>
          <a:noFill/>
          <a:ln w="15240">
            <a:solidFill>
              <a:srgbClr val="2DD4BF">
                <a:alpha val="6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4361688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</a:rPr>
              <a:t>Mensaje clave: vendemos la transformación. Skool organiza el camino.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Dónde entra el VSL dentro del funnel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656" y="1188720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La página con VSL debe ser el puente entre el contenido y la compra.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02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  <p:sp>
        <p:nvSpPr>
          <p:cNvPr id="10" name="Shape 8"/>
          <p:cNvSpPr/>
          <p:nvPr/>
        </p:nvSpPr>
        <p:spPr>
          <a:xfrm>
            <a:off x="2734056" y="3227832"/>
            <a:ext cx="365760" cy="0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56632" y="3227832"/>
            <a:ext cx="365760" cy="0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79208" y="3227832"/>
            <a:ext cx="365760" cy="0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701784" y="3227832"/>
            <a:ext cx="365760" cy="0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9808" y="2834640"/>
            <a:ext cx="2011680" cy="786384"/>
          </a:xfrm>
          <a:prstGeom prst="roundRect">
            <a:avLst>
              <a:gd name="adj" fmla="val 13953"/>
            </a:avLst>
          </a:prstGeom>
          <a:solidFill>
            <a:srgbClr val="182235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9718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Atracción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23697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Reels, stories, ads, YouTube, TikTok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3072384" y="2834640"/>
            <a:ext cx="2011680" cy="786384"/>
          </a:xfrm>
          <a:prstGeom prst="roundRect">
            <a:avLst>
              <a:gd name="adj" fmla="val 13953"/>
            </a:avLst>
          </a:prstGeom>
          <a:solidFill>
            <a:srgbClr val="7C3AED"/>
          </a:solidFill>
          <a:ln w="1016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72968" y="29718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VSL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91256" y="323697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Página de venta con promesa clara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394960" y="2834640"/>
            <a:ext cx="2011680" cy="786384"/>
          </a:xfrm>
          <a:prstGeom prst="roundRect">
            <a:avLst>
              <a:gd name="adj" fmla="val 13953"/>
            </a:avLst>
          </a:prstGeom>
          <a:solidFill>
            <a:srgbClr val="182235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95544" y="29718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Conversión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13832" y="323697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Checkout, aplicación o WhatsApp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717536" y="2834640"/>
            <a:ext cx="2011680" cy="786384"/>
          </a:xfrm>
          <a:prstGeom prst="roundRect">
            <a:avLst>
              <a:gd name="adj" fmla="val 13953"/>
            </a:avLst>
          </a:prstGeom>
          <a:solidFill>
            <a:srgbClr val="182235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29718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Onboarding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836408" y="323697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Formulario inicial + bienvenida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10040112" y="2834640"/>
            <a:ext cx="2011680" cy="786384"/>
          </a:xfrm>
          <a:prstGeom prst="roundRect">
            <a:avLst>
              <a:gd name="adj" fmla="val 13953"/>
            </a:avLst>
          </a:prstGeom>
          <a:solidFill>
            <a:srgbClr val="182235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40696" y="29718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Entrega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158984" y="323697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Skool: clases, comunidad y soporte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1033272" y="4599432"/>
            <a:ext cx="9601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El VSL no trabaja solo. Tiene que mantener coherencia con el contenido que trajo a la persona: mismos dolores, mismos deseos y misma promesa.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029968" y="524865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Si el Reel habla de constancia y la página habla de “bajar 10 kg rápido”, se rompe la confianza.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749808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18388"/>
            <a:ext cx="1399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70A14"/>
                </a:solidFill>
              </a:rPr>
              <a:t>BASE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658368" y="2057400"/>
            <a:ext cx="8183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tiene que tener un VSL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94944" y="3218688"/>
            <a:ext cx="7909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La estructura no es solamente vender. Es ordenar creencias, educar y llevar a una decisión lógica.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03</a:t>
            </a:r>
            <a:endParaRPr lang="en-US" sz="670" dirty="0"/>
          </a:p>
        </p:txBody>
      </p:sp>
      <p:sp>
        <p:nvSpPr>
          <p:cNvPr id="11" name="Text 9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base estratégica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656" y="1188720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Antes de escribir el guion, tenemos que tener clara la transformación.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04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  <p:sp>
        <p:nvSpPr>
          <p:cNvPr id="10" name="Text 8"/>
          <p:cNvSpPr/>
          <p:nvPr/>
        </p:nvSpPr>
        <p:spPr>
          <a:xfrm>
            <a:off x="758952" y="1572768"/>
            <a:ext cx="101955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Un VSL fuerte no nace de “contar lo que incluye el programa”. Nace de entender con precisión a quién le hablamos, qué está viviendo y qué necesita creer para comprar.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2743200"/>
            <a:ext cx="2971800" cy="128016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944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Persona específica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15568" y="336499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Ej: mujer que quiere volver a entrenar sin sentirse perdida.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17720" y="2743200"/>
            <a:ext cx="2971800" cy="1280160"/>
          </a:xfrm>
          <a:prstGeom prst="roundRect">
            <a:avLst>
              <a:gd name="adj" fmla="val 8571"/>
            </a:avLst>
          </a:prstGeom>
          <a:solidFill>
            <a:srgbClr val="182235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2944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D4BF"/>
                </a:solidFill>
              </a:rPr>
              <a:t>Problema específico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18888" y="336499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No sostiene rutinas ni alimentación porque todo le resulta extremo.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321040" y="2743200"/>
            <a:ext cx="2971800" cy="128016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85632" y="2944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Forma específica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22208" y="336499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Sistema de entrenamiento + nutrición flexible + seguimiento.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057400" y="4937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La fórmula que vamos a respetar: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5367528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“Ayudamos a [persona] a lograr [resultado] a través de [mecanismo], sin [principal objeción]”.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necesitamos definir antes de grabar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656" y="1188720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El VSL tiene que hablar con el lenguaje real del mercado.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05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  <p:sp>
        <p:nvSpPr>
          <p:cNvPr id="10" name="Text 8"/>
          <p:cNvSpPr/>
          <p:nvPr/>
        </p:nvSpPr>
        <p:spPr>
          <a:xfrm>
            <a:off x="795528" y="1737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62456" y="16824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b="1" dirty="0">
                <a:solidFill>
                  <a:srgbClr val="F8FAFC"/>
                </a:solidFill>
              </a:rPr>
              <a:t>Punto A</a:t>
            </a:r>
            <a:endParaRPr lang="en-US" sz="1570" dirty="0"/>
          </a:p>
        </p:txBody>
      </p:sp>
      <p:sp>
        <p:nvSpPr>
          <p:cNvPr id="12" name="Text 10"/>
          <p:cNvSpPr/>
          <p:nvPr/>
        </p:nvSpPr>
        <p:spPr>
          <a:xfrm>
            <a:off x="1362456" y="1993392"/>
            <a:ext cx="4187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Cómo está hoy la persona: frustraciones, intentos fallidos y bloqueos.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81928" y="1737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48856" y="16824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b="1" dirty="0">
                <a:solidFill>
                  <a:srgbClr val="F8FAFC"/>
                </a:solidFill>
              </a:rPr>
              <a:t>Punto B</a:t>
            </a:r>
            <a:endParaRPr lang="en-US" sz="1570" dirty="0"/>
          </a:p>
        </p:txBody>
      </p:sp>
      <p:sp>
        <p:nvSpPr>
          <p:cNvPr id="15" name="Text 13"/>
          <p:cNvSpPr/>
          <p:nvPr/>
        </p:nvSpPr>
        <p:spPr>
          <a:xfrm>
            <a:off x="6848856" y="1993392"/>
            <a:ext cx="4187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Qué desea lograr de forma concreta en 3, 6 o 12 meses.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5528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62456" y="29169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b="1" dirty="0">
                <a:solidFill>
                  <a:srgbClr val="F8FAFC"/>
                </a:solidFill>
              </a:rPr>
              <a:t>Intentos previos</a:t>
            </a:r>
            <a:endParaRPr lang="en-US" sz="1570" dirty="0"/>
          </a:p>
        </p:txBody>
      </p:sp>
      <p:sp>
        <p:nvSpPr>
          <p:cNvPr id="18" name="Text 16"/>
          <p:cNvSpPr/>
          <p:nvPr/>
        </p:nvSpPr>
        <p:spPr>
          <a:xfrm>
            <a:off x="1362456" y="3227832"/>
            <a:ext cx="4187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Qué probó antes y por qué siente que no le funcionó.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81928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48856" y="29169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b="1" dirty="0">
                <a:solidFill>
                  <a:srgbClr val="F8FAFC"/>
                </a:solidFill>
              </a:rPr>
              <a:t>Objeciones</a:t>
            </a:r>
            <a:endParaRPr lang="en-US" sz="1570" dirty="0"/>
          </a:p>
        </p:txBody>
      </p:sp>
      <p:sp>
        <p:nvSpPr>
          <p:cNvPr id="21" name="Text 19"/>
          <p:cNvSpPr/>
          <p:nvPr/>
        </p:nvSpPr>
        <p:spPr>
          <a:xfrm>
            <a:off x="6848856" y="3227832"/>
            <a:ext cx="4187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Tiempo, dinero, miedo a abandonar, experiencia, lesiones, dieta, equipamiento.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95528" y="4206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62456" y="41513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b="1" dirty="0">
                <a:solidFill>
                  <a:srgbClr val="F8FAFC"/>
                </a:solidFill>
              </a:rPr>
              <a:t>Pruebas</a:t>
            </a:r>
            <a:endParaRPr lang="en-US" sz="1570" dirty="0"/>
          </a:p>
        </p:txBody>
      </p:sp>
      <p:sp>
        <p:nvSpPr>
          <p:cNvPr id="24" name="Text 22"/>
          <p:cNvSpPr/>
          <p:nvPr/>
        </p:nvSpPr>
        <p:spPr>
          <a:xfrm>
            <a:off x="1362456" y="4462272"/>
            <a:ext cx="4187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Resultados, testimonios, mensajes, hábitos mejorados y procesos reales.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81928" y="4206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48856" y="41513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b="1" dirty="0">
                <a:solidFill>
                  <a:srgbClr val="F8FAFC"/>
                </a:solidFill>
              </a:rPr>
              <a:t>Mecanismo</a:t>
            </a:r>
            <a:endParaRPr lang="en-US" sz="1570" dirty="0"/>
          </a:p>
        </p:txBody>
      </p:sp>
      <p:sp>
        <p:nvSpPr>
          <p:cNvPr id="27" name="Text 25"/>
          <p:cNvSpPr/>
          <p:nvPr/>
        </p:nvSpPr>
        <p:spPr>
          <a:xfrm>
            <a:off x="6848856" y="4462272"/>
            <a:ext cx="4187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Qué hacemos diferente para que no sea “otra rutina más”.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49808" y="5559552"/>
            <a:ext cx="10652760" cy="0"/>
          </a:xfrm>
          <a:prstGeom prst="line">
            <a:avLst/>
          </a:prstGeom>
          <a:noFill/>
          <a:ln w="1016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17320" y="5788152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30" b="1" dirty="0">
                <a:solidFill>
                  <a:srgbClr val="F8FAFC"/>
                </a:solidFill>
              </a:rPr>
              <a:t>Sin esta información, el VSL puede sonar prolijo, pero no necesariamente va a convertir.</a:t>
            </a:r>
            <a:endParaRPr lang="en-US" sz="16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hoy más está funcionando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656" y="1188720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Claves prácticas para que el VSL no se sienta como un anuncio más.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06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  <p:sp>
        <p:nvSpPr>
          <p:cNvPr id="10" name="Shape 8"/>
          <p:cNvSpPr/>
          <p:nvPr/>
        </p:nvSpPr>
        <p:spPr>
          <a:xfrm>
            <a:off x="804672" y="1645920"/>
            <a:ext cx="3063240" cy="1097280"/>
          </a:xfrm>
          <a:prstGeom prst="roundRect">
            <a:avLst>
              <a:gd name="adj" fmla="val 10000"/>
            </a:avLst>
          </a:prstGeom>
          <a:solidFill>
            <a:srgbClr val="182235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84708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8FAFC"/>
                </a:solidFill>
              </a:rPr>
              <a:t>Promesa específica</a:t>
            </a:r>
            <a:endParaRPr lang="en-US" sz="1580" dirty="0"/>
          </a:p>
        </p:txBody>
      </p:sp>
      <p:sp>
        <p:nvSpPr>
          <p:cNvPr id="12" name="Text 10"/>
          <p:cNvSpPr/>
          <p:nvPr/>
        </p:nvSpPr>
        <p:spPr>
          <a:xfrm>
            <a:off x="1042416" y="220370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Resultado + mecanismo + objeción eliminada.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599432" y="1645920"/>
            <a:ext cx="3063240" cy="109728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84708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8FAFC"/>
                </a:solidFill>
              </a:rPr>
              <a:t>Hook directo</a:t>
            </a:r>
            <a:endParaRPr lang="en-US" sz="1580" dirty="0"/>
          </a:p>
        </p:txBody>
      </p:sp>
      <p:sp>
        <p:nvSpPr>
          <p:cNvPr id="15" name="Text 13"/>
          <p:cNvSpPr/>
          <p:nvPr/>
        </p:nvSpPr>
        <p:spPr>
          <a:xfrm>
            <a:off x="4837176" y="220370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Los primeros segundos tienen que reconocer el problema.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394192" y="1645920"/>
            <a:ext cx="3063240" cy="109728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184708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8FAFC"/>
                </a:solidFill>
              </a:rPr>
              <a:t>Educación</a:t>
            </a:r>
            <a:endParaRPr lang="en-US" sz="1580" dirty="0"/>
          </a:p>
        </p:txBody>
      </p:sp>
      <p:sp>
        <p:nvSpPr>
          <p:cNvPr id="18" name="Text 16"/>
          <p:cNvSpPr/>
          <p:nvPr/>
        </p:nvSpPr>
        <p:spPr>
          <a:xfrm>
            <a:off x="8631936" y="220370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La venta entra mejor cuando primero ordenamos creencias.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04672" y="3474720"/>
            <a:ext cx="3063240" cy="109728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67588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8FAFC"/>
                </a:solidFill>
              </a:rPr>
              <a:t>Prueba distribuida</a:t>
            </a:r>
            <a:endParaRPr lang="en-US" sz="1580" dirty="0"/>
          </a:p>
        </p:txBody>
      </p:sp>
      <p:sp>
        <p:nvSpPr>
          <p:cNvPr id="21" name="Text 19"/>
          <p:cNvSpPr/>
          <p:nvPr/>
        </p:nvSpPr>
        <p:spPr>
          <a:xfrm>
            <a:off x="1042416" y="403250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No dejar testimonios solo para el final.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4599432" y="3474720"/>
            <a:ext cx="3063240" cy="1097280"/>
          </a:xfrm>
          <a:prstGeom prst="roundRect">
            <a:avLst>
              <a:gd name="adj" fmla="val 10000"/>
            </a:avLst>
          </a:prstGeom>
          <a:solidFill>
            <a:srgbClr val="182235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67588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8FAFC"/>
                </a:solidFill>
              </a:rPr>
              <a:t>Mecanismo propio</a:t>
            </a:r>
            <a:endParaRPr lang="en-US" sz="1580" dirty="0"/>
          </a:p>
        </p:txBody>
      </p:sp>
      <p:sp>
        <p:nvSpPr>
          <p:cNvPr id="24" name="Text 22"/>
          <p:cNvSpPr/>
          <p:nvPr/>
        </p:nvSpPr>
        <p:spPr>
          <a:xfrm>
            <a:off x="4837176" y="403250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No vender “entrenamiento + nutrición” como algo genérico.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394192" y="3474720"/>
            <a:ext cx="3063240" cy="109728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0" y="367588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8FAFC"/>
                </a:solidFill>
              </a:rPr>
              <a:t>Mobile first</a:t>
            </a:r>
            <a:endParaRPr lang="en-US" sz="1580" dirty="0"/>
          </a:p>
        </p:txBody>
      </p:sp>
      <p:sp>
        <p:nvSpPr>
          <p:cNvPr id="27" name="Text 25"/>
          <p:cNvSpPr/>
          <p:nvPr/>
        </p:nvSpPr>
        <p:spPr>
          <a:xfrm>
            <a:off x="8631936" y="403250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Subtítulos, planos cercanos, carga rápida y CTA visible.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1097280" y="548640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D4BF"/>
                </a:solidFill>
              </a:rPr>
              <a:t>El objetivo es que la persona sienta: “esto habla de mí, entiendo por qué no me funcionó antes y este camino me resulta posible”.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Clave #1 · Promesa específica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656" y="1188720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Una promesa genérica hace que la oferta parezca igual a todas.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07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  <p:sp>
        <p:nvSpPr>
          <p:cNvPr id="10" name="Shape 8"/>
          <p:cNvSpPr/>
          <p:nvPr/>
        </p:nvSpPr>
        <p:spPr>
          <a:xfrm>
            <a:off x="777240" y="1691640"/>
            <a:ext cx="5166360" cy="3337560"/>
          </a:xfrm>
          <a:prstGeom prst="roundRect">
            <a:avLst>
              <a:gd name="adj" fmla="val 3288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19751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7185"/>
                </a:solidFill>
              </a:rPr>
              <a:t>Evitar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60704" y="2487168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“Transformá tu cuerpo y alcanzá tu mejor versión.”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60704" y="349300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Suena bien, pero es demasiado amplio. No nos diferencia y podría decirlo cualquier coach.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5166360" cy="3337560"/>
          </a:xfrm>
          <a:prstGeom prst="roundRect">
            <a:avLst>
              <a:gd name="adj" fmla="val 3288"/>
            </a:avLst>
          </a:prstGeom>
          <a:solidFill>
            <a:srgbClr val="182235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19751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</a:rPr>
              <a:t>Usar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47104" y="2468880"/>
            <a:ext cx="4279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“Volvé a entrenar con constancia y mejorá tu alimentación sin dietas extremas ni rutinas imposibles.”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547104" y="36758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Aterriza el deseo, muestra el mecanismo y elimina una objeción clave: “no quiero algo extremo”.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874520" y="5541264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8FAFC"/>
                </a:solidFill>
              </a:rPr>
              <a:t>Fórmula: resultado deseado + mecanismo diferente + principal miedo eliminado.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Clave #2 · Primeros segundos fuertes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656" y="1188720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No empezaría con una biografía. Primero vendería la atención.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08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  <p:sp>
        <p:nvSpPr>
          <p:cNvPr id="10" name="Text 8"/>
          <p:cNvSpPr/>
          <p:nvPr/>
        </p:nvSpPr>
        <p:spPr>
          <a:xfrm>
            <a:off x="86868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7185"/>
                </a:solidFill>
              </a:rPr>
              <a:t>Mal comienzo: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2057400"/>
            <a:ext cx="4709160" cy="96012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232257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F8FAFC"/>
                </a:solidFill>
              </a:rPr>
              <a:t>“Hola, soy María Pía, soy entrenadora y hoy quiero contarte sobre mi programa…”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Buen comienzo: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0" y="2057400"/>
            <a:ext cx="4709160" cy="1143000"/>
          </a:xfrm>
          <a:prstGeom prst="roundRect">
            <a:avLst>
              <a:gd name="adj" fmla="val 9600"/>
            </a:avLst>
          </a:prstGeom>
          <a:solidFill>
            <a:srgbClr val="182235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23317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F8FAFC"/>
                </a:solidFill>
              </a:rPr>
              <a:t>“Si hace meses que querés volver a entrenar, pero cada plan que empezás te dura dos semanas, prestá atención…”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4059936"/>
            <a:ext cx="10012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La persona todavía no compró nuestra autoridad. Primero necesita sentir que entendemos su problema.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2176272" y="4805172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40864" y="471830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</a:rPr>
              <a:t>Hook basado en situación real, no en promesa vacía.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2176272" y="5189220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40864" y="510235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</a:rPr>
              <a:t>Debe aparecer el problema principal y la objeción dominante.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2176272" y="5573268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40864" y="548640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</a:rPr>
              <a:t>Si viene de un Reel o anuncio, el mensaje tiene que ser coherente con ese contenido.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Clave #3 · Vender educando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656" y="1188720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El VSL no debería sentirse como una publicidad de 15 minutos.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09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  <p:sp>
        <p:nvSpPr>
          <p:cNvPr id="10" name="Shape 8"/>
          <p:cNvSpPr/>
          <p:nvPr/>
        </p:nvSpPr>
        <p:spPr>
          <a:xfrm>
            <a:off x="822960" y="1645920"/>
            <a:ext cx="3657600" cy="3977640"/>
          </a:xfrm>
          <a:prstGeom prst="roundRect">
            <a:avLst>
              <a:gd name="adj" fmla="val 3000"/>
            </a:avLst>
          </a:prstGeom>
          <a:solidFill>
            <a:srgbClr val="182235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19019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D4BF"/>
                </a:solidFill>
              </a:rPr>
              <a:t>La sensación que buscamos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52144" y="2798064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“Por fin alguien me está explicando por qué no logro sostener mis resultados.”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800600" y="1645920"/>
            <a:ext cx="6446520" cy="3977640"/>
          </a:xfrm>
          <a:prstGeom prst="roundRect">
            <a:avLst>
              <a:gd name="adj" fmla="val 2759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90195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Lo que tiene que entender la persona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394960" y="2692908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9552" y="260604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CBD5E1"/>
                </a:solidFill>
              </a:rPr>
              <a:t>Por qué los métodos anteriores no fueron sostenibles.</a:t>
            </a:r>
            <a:endParaRPr lang="en-US" sz="1480" dirty="0"/>
          </a:p>
        </p:txBody>
      </p:sp>
      <p:sp>
        <p:nvSpPr>
          <p:cNvPr id="17" name="Shape 15"/>
          <p:cNvSpPr/>
          <p:nvPr/>
        </p:nvSpPr>
        <p:spPr>
          <a:xfrm>
            <a:off x="5394960" y="3076956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59552" y="299008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CBD5E1"/>
                </a:solidFill>
              </a:rPr>
              <a:t>Qué necesita hacer diferente esta vez.</a:t>
            </a:r>
            <a:endParaRPr lang="en-US" sz="1480" dirty="0"/>
          </a:p>
        </p:txBody>
      </p:sp>
      <p:sp>
        <p:nvSpPr>
          <p:cNvPr id="19" name="Shape 17"/>
          <p:cNvSpPr/>
          <p:nvPr/>
        </p:nvSpPr>
        <p:spPr>
          <a:xfrm>
            <a:off x="5394960" y="3461004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59552" y="3374136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CBD5E1"/>
                </a:solidFill>
              </a:rPr>
              <a:t>Cuáles son las etapas del proceso.</a:t>
            </a:r>
            <a:endParaRPr lang="en-US" sz="1480" dirty="0"/>
          </a:p>
        </p:txBody>
      </p:sp>
      <p:sp>
        <p:nvSpPr>
          <p:cNvPr id="21" name="Shape 19"/>
          <p:cNvSpPr/>
          <p:nvPr/>
        </p:nvSpPr>
        <p:spPr>
          <a:xfrm>
            <a:off x="5394960" y="3845052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3758184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CBD5E1"/>
                </a:solidFill>
              </a:rPr>
              <a:t>Por qué el método de María Pía hace que el camino sea más claro.</a:t>
            </a:r>
            <a:endParaRPr lang="en-US" sz="1480" dirty="0"/>
          </a:p>
        </p:txBody>
      </p:sp>
      <p:sp>
        <p:nvSpPr>
          <p:cNvPr id="23" name="Shape 21"/>
          <p:cNvSpPr/>
          <p:nvPr/>
        </p:nvSpPr>
        <p:spPr>
          <a:xfrm>
            <a:off x="5394960" y="4229100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59552" y="414223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CBD5E1"/>
                </a:solidFill>
              </a:rPr>
              <a:t>Qué tiene que pasar después de invertir para empezar sin sentirse perdida.</a:t>
            </a:r>
            <a:endParaRPr lang="en-US" sz="1480" dirty="0"/>
          </a:p>
        </p:txBody>
      </p:sp>
      <p:sp>
        <p:nvSpPr>
          <p:cNvPr id="25" name="Text 23"/>
          <p:cNvSpPr/>
          <p:nvPr/>
        </p:nvSpPr>
        <p:spPr>
          <a:xfrm>
            <a:off x="2514600" y="596188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DD4BF"/>
                </a:solidFill>
              </a:rPr>
              <a:t>Educamos para que la compra se sienta lógica, no impulsiva.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Clave #4 · Prueba durante todo el video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656" y="1188720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La prueba no debería vivir únicamente al final.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10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  <p:sp>
        <p:nvSpPr>
          <p:cNvPr id="10" name="Shape 8"/>
          <p:cNvSpPr/>
          <p:nvPr/>
        </p:nvSpPr>
        <p:spPr>
          <a:xfrm>
            <a:off x="1417320" y="3273552"/>
            <a:ext cx="1051560" cy="0"/>
          </a:xfrm>
          <a:prstGeom prst="line">
            <a:avLst/>
          </a:prstGeom>
          <a:noFill/>
          <a:ln w="1397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57600" y="3273552"/>
            <a:ext cx="1051560" cy="0"/>
          </a:xfrm>
          <a:prstGeom prst="line">
            <a:avLst/>
          </a:prstGeom>
          <a:noFill/>
          <a:ln w="1397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897880" y="3273552"/>
            <a:ext cx="1051560" cy="0"/>
          </a:xfrm>
          <a:prstGeom prst="line">
            <a:avLst/>
          </a:prstGeom>
          <a:noFill/>
          <a:ln w="1397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138160" y="3273552"/>
            <a:ext cx="1051560" cy="0"/>
          </a:xfrm>
          <a:prstGeom prst="line">
            <a:avLst/>
          </a:prstGeom>
          <a:noFill/>
          <a:ln w="1397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408176" y="2487168"/>
            <a:ext cx="731520" cy="731520"/>
          </a:xfrm>
          <a:prstGeom prst="ellipse">
            <a:avLst/>
          </a:prstGeom>
          <a:solidFill>
            <a:srgbClr val="182235"/>
          </a:solidFill>
          <a:ln w="1016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08176" y="26791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9808" y="376732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Promesa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" y="40965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CBD5E1"/>
                </a:solidFill>
              </a:rPr>
              <a:t>Mensaje o resultado breve que valide que esto ya pasó.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3675888" y="2487168"/>
            <a:ext cx="731520" cy="731520"/>
          </a:xfrm>
          <a:prstGeom prst="ellipse">
            <a:avLst/>
          </a:prstGeom>
          <a:solidFill>
            <a:srgbClr val="182235"/>
          </a:solidFill>
          <a:ln w="1016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75888" y="26791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017520" y="376732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Mecanismo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72384" y="40965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CBD5E1"/>
                </a:solidFill>
              </a:rPr>
              <a:t>Caso que muestre por qué el método funciona.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943600" y="2487168"/>
            <a:ext cx="731520" cy="731520"/>
          </a:xfrm>
          <a:prstGeom prst="ellipse">
            <a:avLst/>
          </a:prstGeom>
          <a:solidFill>
            <a:srgbClr val="182235"/>
          </a:solidFill>
          <a:ln w="1016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26791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85232" y="376732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Pilar 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40096" y="40965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CBD5E1"/>
                </a:solidFill>
              </a:rPr>
              <a:t>Ejemplo de constancia o entrenamiento adaptado.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8211312" y="2487168"/>
            <a:ext cx="731520" cy="731520"/>
          </a:xfrm>
          <a:prstGeom prst="ellipse">
            <a:avLst/>
          </a:prstGeom>
          <a:solidFill>
            <a:srgbClr val="182235"/>
          </a:solidFill>
          <a:ln w="1016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11312" y="26791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552944" y="376732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Pilar 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607808" y="40965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CBD5E1"/>
                </a:solidFill>
              </a:rPr>
              <a:t>Ejemplo de alimentación flexible.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10479024" y="2487168"/>
            <a:ext cx="731520" cy="731520"/>
          </a:xfrm>
          <a:prstGeom prst="ellipse">
            <a:avLst/>
          </a:prstGeom>
          <a:solidFill>
            <a:srgbClr val="7C3AED"/>
          </a:solidFill>
          <a:ln w="1016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79024" y="26791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820656" y="376732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Antes del CTA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75520" y="40965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CBD5E1"/>
                </a:solidFill>
              </a:rPr>
              <a:t>Testimonio que baje la incertidumbre final.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1152144" y="5340096"/>
            <a:ext cx="96926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8FAFC"/>
                </a:solidFill>
              </a:rPr>
              <a:t>En fitness, los antes/después ayudan, pero no deberían ser la única prueba. También podemos mostrar hábitos, mensajes, avances de fuerza, consistencia y seguimiento.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Clave #5 · Un mecanismo reconocible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656" y="1188720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“Entrenamiento + nutrición” es demasiado genérico. Hay que convertirlo en método.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11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  <p:sp>
        <p:nvSpPr>
          <p:cNvPr id="10" name="Text 8"/>
          <p:cNvSpPr/>
          <p:nvPr/>
        </p:nvSpPr>
        <p:spPr>
          <a:xfrm>
            <a:off x="896112" y="15727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Propuesta de mecanismo para María Pía: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1938528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Sistema de Constancia Fitness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868680" y="3127248"/>
            <a:ext cx="3063240" cy="13716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3284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81912" y="32826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8FAFC"/>
                </a:solidFill>
              </a:rPr>
              <a:t>Entrenamiento adaptable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1097280" y="38039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Rutinas compatibles con tiempo, nivel, objetivos y equipamiento.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4572000" y="3127248"/>
            <a:ext cx="3063240" cy="1371600"/>
          </a:xfrm>
          <a:prstGeom prst="roundRect">
            <a:avLst>
              <a:gd name="adj" fmla="val 8000"/>
            </a:avLst>
          </a:prstGeom>
          <a:solidFill>
            <a:srgbClr val="182235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33284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85232" y="32826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8FAFC"/>
                </a:solidFill>
              </a:rPr>
              <a:t>Nutrición flexible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4800600" y="38039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Aprender a organizar comidas sin vivir a dieta ni prohibirse todo.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8275320" y="3127248"/>
            <a:ext cx="3063240" cy="13716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39912" y="33284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88552" y="32826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8FAFC"/>
                </a:solidFill>
              </a:rPr>
              <a:t>Seguimiento y comunidad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503920" y="38039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Acompañamiento para corregir, sostener hábitos y evitar abandonar.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1371600" y="523036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30" b="1" dirty="0">
                <a:solidFill>
                  <a:srgbClr val="F8FAFC"/>
                </a:solidFill>
              </a:rPr>
              <a:t>La idea no es inventar humo. Es ponerle nombre y orden al proceso para que la persona entienda por qué esto no es “otra rutina más”.</a:t>
            </a:r>
            <a:endParaRPr lang="en-US" sz="16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Clave #6 · Humano y mobile first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656" y="1188720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La confianza la construye María Pía. La plataforma acompaña.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12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  <p:sp>
        <p:nvSpPr>
          <p:cNvPr id="10" name="Text 8"/>
          <p:cNvSpPr/>
          <p:nvPr/>
        </p:nvSpPr>
        <p:spPr>
          <a:xfrm>
            <a:off x="822960" y="166420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</a:rPr>
              <a:t>Cámara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84832" y="166420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F8FAFC"/>
                </a:solidFill>
              </a:rPr>
              <a:t>María Pía hablando a cámara desde el inicio.</a:t>
            </a:r>
            <a:endParaRPr lang="en-US" sz="1470" dirty="0"/>
          </a:p>
        </p:txBody>
      </p:sp>
      <p:sp>
        <p:nvSpPr>
          <p:cNvPr id="12" name="Shape 10"/>
          <p:cNvSpPr/>
          <p:nvPr/>
        </p:nvSpPr>
        <p:spPr>
          <a:xfrm>
            <a:off x="822960" y="2103120"/>
            <a:ext cx="4709160" cy="0"/>
          </a:xfrm>
          <a:prstGeom prst="line">
            <a:avLst/>
          </a:prstGeom>
          <a:noFill/>
          <a:ln w="889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66420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</a:rPr>
              <a:t>B-roll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71232" y="166420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F8FAFC"/>
                </a:solidFill>
              </a:rPr>
              <a:t>Tomas entrenando, explicando ejercicios o mostrando planificación.</a:t>
            </a:r>
            <a:endParaRPr lang="en-US" sz="1470" dirty="0"/>
          </a:p>
        </p:txBody>
      </p:sp>
      <p:sp>
        <p:nvSpPr>
          <p:cNvPr id="15" name="Shape 13"/>
          <p:cNvSpPr/>
          <p:nvPr/>
        </p:nvSpPr>
        <p:spPr>
          <a:xfrm>
            <a:off x="6309360" y="2103120"/>
            <a:ext cx="4709160" cy="0"/>
          </a:xfrm>
          <a:prstGeom prst="line">
            <a:avLst/>
          </a:prstGeom>
          <a:noFill/>
          <a:ln w="889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87121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</a:rPr>
              <a:t>Subtítulos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084832" y="287121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F8FAFC"/>
                </a:solidFill>
              </a:rPr>
              <a:t>Revisados manualmente, grandes y fáciles de leer.</a:t>
            </a:r>
            <a:endParaRPr lang="en-US" sz="1470" dirty="0"/>
          </a:p>
        </p:txBody>
      </p:sp>
      <p:sp>
        <p:nvSpPr>
          <p:cNvPr id="18" name="Shape 16"/>
          <p:cNvSpPr/>
          <p:nvPr/>
        </p:nvSpPr>
        <p:spPr>
          <a:xfrm>
            <a:off x="822960" y="3310128"/>
            <a:ext cx="4709160" cy="0"/>
          </a:xfrm>
          <a:prstGeom prst="line">
            <a:avLst/>
          </a:prstGeom>
          <a:noFill/>
          <a:ln w="889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87121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</a:rPr>
              <a:t>Ritmo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71232" y="287121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F8FAFC"/>
                </a:solidFill>
              </a:rPr>
              <a:t>Cortes limpios, pausas cortas y nada de relleno.</a:t>
            </a:r>
            <a:endParaRPr lang="en-US" sz="1470" dirty="0"/>
          </a:p>
        </p:txBody>
      </p:sp>
      <p:sp>
        <p:nvSpPr>
          <p:cNvPr id="21" name="Shape 19"/>
          <p:cNvSpPr/>
          <p:nvPr/>
        </p:nvSpPr>
        <p:spPr>
          <a:xfrm>
            <a:off x="6309360" y="3310128"/>
            <a:ext cx="4709160" cy="0"/>
          </a:xfrm>
          <a:prstGeom prst="line">
            <a:avLst/>
          </a:prstGeom>
          <a:noFill/>
          <a:ln w="889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07822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</a:rPr>
              <a:t>Mobile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084832" y="407822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F8FAFC"/>
                </a:solidFill>
              </a:rPr>
              <a:t>Plano cercano, audio claro y botón visible en celular.</a:t>
            </a:r>
            <a:endParaRPr lang="en-US" sz="1470" dirty="0"/>
          </a:p>
        </p:txBody>
      </p:sp>
      <p:sp>
        <p:nvSpPr>
          <p:cNvPr id="24" name="Shape 22"/>
          <p:cNvSpPr/>
          <p:nvPr/>
        </p:nvSpPr>
        <p:spPr>
          <a:xfrm>
            <a:off x="822960" y="4517136"/>
            <a:ext cx="4709160" cy="0"/>
          </a:xfrm>
          <a:prstGeom prst="line">
            <a:avLst/>
          </a:prstGeom>
          <a:noFill/>
          <a:ln w="889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407822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</a:rPr>
              <a:t>Carga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71232" y="407822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F8FAFC"/>
                </a:solidFill>
              </a:rPr>
              <a:t>Video optimizado para que la página no se vuelva lenta.</a:t>
            </a:r>
            <a:endParaRPr lang="en-US" sz="1470" dirty="0"/>
          </a:p>
        </p:txBody>
      </p:sp>
      <p:sp>
        <p:nvSpPr>
          <p:cNvPr id="27" name="Shape 25"/>
          <p:cNvSpPr/>
          <p:nvPr/>
        </p:nvSpPr>
        <p:spPr>
          <a:xfrm>
            <a:off x="6309360" y="4517136"/>
            <a:ext cx="4709160" cy="0"/>
          </a:xfrm>
          <a:prstGeom prst="line">
            <a:avLst/>
          </a:prstGeom>
          <a:noFill/>
          <a:ln w="889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34440" y="5504688"/>
            <a:ext cx="9692640" cy="502920"/>
          </a:xfrm>
          <a:prstGeom prst="roundRect">
            <a:avLst>
              <a:gd name="adj" fmla="val 21818"/>
            </a:avLst>
          </a:prstGeom>
          <a:solidFill>
            <a:srgbClr val="182235"/>
          </a:solidFill>
          <a:ln w="1016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72768" y="5660136"/>
            <a:ext cx="9006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CBD5E1"/>
                </a:solidFill>
              </a:rPr>
              <a:t>Usamos IA para guion, subtítulos y edición. Pero no reemplazamos la confianza de una persona real hablando con claridad.</a:t>
            </a:r>
            <a:endParaRPr lang="en-US" sz="13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Duración recomendada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656" y="1188720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No buscaría que sea largo. Buscaría que sea completo y directo.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13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  <p:sp>
        <p:nvSpPr>
          <p:cNvPr id="10" name="Text 8"/>
          <p:cNvSpPr/>
          <p:nvPr/>
        </p:nvSpPr>
        <p:spPr>
          <a:xfrm>
            <a:off x="960120" y="18288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12–16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960120" y="243230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minutos para primera versión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09160" y="18288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15–25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09160" y="243230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minutos si el ticket es más alto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12480" y="18288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+25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412480" y="243230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solo si hay educación y casos suficientes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874520" y="3785616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</a:rPr>
              <a:t>Mi recomendación para esta primera etapa: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4370832"/>
            <a:ext cx="9418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Grabar un VSL de 12 a 16 minutos, con una estructura muy clara, prueba social distribuida y un CTA directo al checkout o al siguiente paso.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5330952"/>
            <a:ext cx="9189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Si el producto termina siendo de precio bajo o medio, no necesitamos un video de 35 minutos. Si la oferta es más cara y personalizada, sí podemos extenderlo.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749808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18388"/>
            <a:ext cx="1399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70A14"/>
                </a:solidFill>
              </a:rPr>
              <a:t>GUION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658368" y="2057400"/>
            <a:ext cx="8183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Paso a paso del VSL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94944" y="3218688"/>
            <a:ext cx="7909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Esta es la estructura que usaríamos para escribir el guion completo de María Pía.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14</a:t>
            </a:r>
            <a:endParaRPr lang="en-US" sz="670" dirty="0"/>
          </a:p>
        </p:txBody>
      </p:sp>
      <p:sp>
        <p:nvSpPr>
          <p:cNvPr id="11" name="Text 9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completo del VSL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656" y="1188720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Una estructura de 12 bloques, pensada para 12–16 minutos.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15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  <p:sp>
        <p:nvSpPr>
          <p:cNvPr id="10" name="Shape 8"/>
          <p:cNvSpPr/>
          <p:nvPr/>
        </p:nvSpPr>
        <p:spPr>
          <a:xfrm>
            <a:off x="704088" y="1828800"/>
            <a:ext cx="1463040" cy="804672"/>
          </a:xfrm>
          <a:prstGeom prst="roundRect">
            <a:avLst>
              <a:gd name="adj" fmla="val 13636"/>
            </a:avLst>
          </a:prstGeom>
          <a:solidFill>
            <a:srgbClr val="182235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38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4BF"/>
                </a:solidFill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" y="2185416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8FAFC"/>
                </a:solidFill>
              </a:rPr>
              <a:t>Promesa + hook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2578608" y="1828800"/>
            <a:ext cx="1463040" cy="804672"/>
          </a:xfrm>
          <a:prstGeom prst="roundRect">
            <a:avLst>
              <a:gd name="adj" fmla="val 13636"/>
            </a:avLst>
          </a:prstGeom>
          <a:solidFill>
            <a:srgbClr val="182235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938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4BF"/>
                </a:solidFill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88336" y="2185416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8FAFC"/>
                </a:solidFill>
              </a:rPr>
              <a:t>Problema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4453128" y="1828800"/>
            <a:ext cx="1463040" cy="804672"/>
          </a:xfrm>
          <a:prstGeom prst="roundRect">
            <a:avLst>
              <a:gd name="adj" fmla="val 13636"/>
            </a:avLst>
          </a:prstGeom>
          <a:solidFill>
            <a:srgbClr val="182235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938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4BF"/>
                </a:solidFill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62856" y="2185416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8FAFC"/>
                </a:solidFill>
              </a:rPr>
              <a:t>Autoridad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6327648" y="1828800"/>
            <a:ext cx="1463040" cy="804672"/>
          </a:xfrm>
          <a:prstGeom prst="roundRect">
            <a:avLst>
              <a:gd name="adj" fmla="val 13636"/>
            </a:avLst>
          </a:prstGeom>
          <a:solidFill>
            <a:srgbClr val="182235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938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4BF"/>
                </a:solidFill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37376" y="2185416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8FAFC"/>
                </a:solidFill>
              </a:rPr>
              <a:t>Para quién es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8202168" y="1828800"/>
            <a:ext cx="1463040" cy="804672"/>
          </a:xfrm>
          <a:prstGeom prst="roundRect">
            <a:avLst>
              <a:gd name="adj" fmla="val 13636"/>
            </a:avLst>
          </a:prstGeom>
          <a:solidFill>
            <a:srgbClr val="182235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1938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4BF"/>
                </a:solidFill>
              </a:rPr>
              <a:t>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11896" y="2185416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8FAFC"/>
                </a:solidFill>
              </a:rPr>
              <a:t>Historia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10076688" y="1828800"/>
            <a:ext cx="1463040" cy="804672"/>
          </a:xfrm>
          <a:prstGeom prst="roundRect">
            <a:avLst>
              <a:gd name="adj" fmla="val 13636"/>
            </a:avLst>
          </a:prstGeom>
          <a:solidFill>
            <a:srgbClr val="182235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95560" y="1938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4BF"/>
                </a:solidFill>
              </a:rPr>
              <a:t>06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186416" y="2185416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8FAFC"/>
                </a:solidFill>
              </a:rPr>
              <a:t>Mecanismo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704088" y="3401568"/>
            <a:ext cx="1463040" cy="804672"/>
          </a:xfrm>
          <a:prstGeom prst="roundRect">
            <a:avLst>
              <a:gd name="adj" fmla="val 13636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35112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4BF"/>
                </a:solidFill>
              </a:rPr>
              <a:t>07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3816" y="375818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8FAFC"/>
                </a:solidFill>
              </a:rPr>
              <a:t>3 creencias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2578608" y="3401568"/>
            <a:ext cx="1463040" cy="804672"/>
          </a:xfrm>
          <a:prstGeom prst="roundRect">
            <a:avLst>
              <a:gd name="adj" fmla="val 13636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97480" y="35112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4BF"/>
                </a:solidFill>
              </a:rPr>
              <a:t>08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688336" y="375818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8FAFC"/>
                </a:solidFill>
              </a:rPr>
              <a:t>Prueba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4453128" y="3401568"/>
            <a:ext cx="1463040" cy="804672"/>
          </a:xfrm>
          <a:prstGeom prst="roundRect">
            <a:avLst>
              <a:gd name="adj" fmla="val 13636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35112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4BF"/>
                </a:solidFill>
              </a:rPr>
              <a:t>09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62856" y="375818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8FAFC"/>
                </a:solidFill>
              </a:rPr>
              <a:t>Enemigos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6327648" y="3401568"/>
            <a:ext cx="1463040" cy="804672"/>
          </a:xfrm>
          <a:prstGeom prst="roundRect">
            <a:avLst>
              <a:gd name="adj" fmla="val 13636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35112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4BF"/>
                </a:solidFill>
              </a:rPr>
              <a:t>10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37376" y="375818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8FAFC"/>
                </a:solidFill>
              </a:rPr>
              <a:t>Oferta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8202168" y="3401568"/>
            <a:ext cx="1463040" cy="804672"/>
          </a:xfrm>
          <a:prstGeom prst="roundRect">
            <a:avLst>
              <a:gd name="adj" fmla="val 13636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1040" y="35112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4BF"/>
                </a:solidFill>
              </a:rPr>
              <a:t>11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311896" y="375818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8FAFC"/>
                </a:solidFill>
              </a:rPr>
              <a:t>Objeciones</a:t>
            </a:r>
            <a:endParaRPr lang="en-US" sz="1060" dirty="0"/>
          </a:p>
        </p:txBody>
      </p:sp>
      <p:sp>
        <p:nvSpPr>
          <p:cNvPr id="43" name="Shape 41"/>
          <p:cNvSpPr/>
          <p:nvPr/>
        </p:nvSpPr>
        <p:spPr>
          <a:xfrm>
            <a:off x="10076688" y="3401568"/>
            <a:ext cx="1463040" cy="804672"/>
          </a:xfrm>
          <a:prstGeom prst="roundRect">
            <a:avLst>
              <a:gd name="adj" fmla="val 13636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95560" y="35112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4BF"/>
                </a:solidFill>
              </a:rPr>
              <a:t>12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186416" y="375818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8FAFC"/>
                </a:solidFill>
              </a:rPr>
              <a:t>CTA</a:t>
            </a:r>
            <a:endParaRPr lang="en-US" sz="1060" dirty="0"/>
          </a:p>
        </p:txBody>
      </p:sp>
      <p:sp>
        <p:nvSpPr>
          <p:cNvPr id="46" name="Text 44"/>
          <p:cNvSpPr/>
          <p:nvPr/>
        </p:nvSpPr>
        <p:spPr>
          <a:xfrm>
            <a:off x="1188720" y="5349240"/>
            <a:ext cx="9738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La clave no es memorizar bloques. La clave es que cada bloque haga avanzar a la persona: atención → identificación → confianza → claridad → deseo → decisión.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Bloques 1–4 · Captar y calificar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656" y="1188720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Los primeros minutos tienen que hacer que la persona se quede mirando.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16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  <p:sp>
        <p:nvSpPr>
          <p:cNvPr id="10" name="Shape 8"/>
          <p:cNvSpPr/>
          <p:nvPr/>
        </p:nvSpPr>
        <p:spPr>
          <a:xfrm>
            <a:off x="822960" y="1691640"/>
            <a:ext cx="4800600" cy="1078992"/>
          </a:xfrm>
          <a:prstGeom prst="roundRect">
            <a:avLst>
              <a:gd name="adj" fmla="val 10169"/>
            </a:avLst>
          </a:prstGeom>
          <a:solidFill>
            <a:srgbClr val="182235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189280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2DD4BF"/>
                </a:solidFill>
              </a:rPr>
              <a:t>1. Gran promesa + hook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1042416" y="2249424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“Si hace meses que querés volver a entrenar, pero cada plan te dura dos semanas…”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4800600" cy="1078992"/>
          </a:xfrm>
          <a:prstGeom prst="roundRect">
            <a:avLst>
              <a:gd name="adj" fmla="val 10169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189280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F8FAFC"/>
                </a:solidFill>
              </a:rPr>
              <a:t>2. Problema actual</a:t>
            </a:r>
            <a:endParaRPr lang="en-US" sz="1540" dirty="0"/>
          </a:p>
        </p:txBody>
      </p:sp>
      <p:sp>
        <p:nvSpPr>
          <p:cNvPr id="15" name="Text 13"/>
          <p:cNvSpPr/>
          <p:nvPr/>
        </p:nvSpPr>
        <p:spPr>
          <a:xfrm>
            <a:off x="6528816" y="2249424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Mostrar que entendemos su realidad: falta de tiempo, planes extremos, culpa, abandono.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22960" y="3355848"/>
            <a:ext cx="4800600" cy="1078992"/>
          </a:xfrm>
          <a:prstGeom prst="roundRect">
            <a:avLst>
              <a:gd name="adj" fmla="val 10169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3557016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F8FAFC"/>
                </a:solidFill>
              </a:rPr>
              <a:t>3. Autoridad relevante</a:t>
            </a:r>
            <a:endParaRPr lang="en-US" sz="1540" dirty="0"/>
          </a:p>
        </p:txBody>
      </p:sp>
      <p:sp>
        <p:nvSpPr>
          <p:cNvPr id="18" name="Text 16"/>
          <p:cNvSpPr/>
          <p:nvPr/>
        </p:nvSpPr>
        <p:spPr>
          <a:xfrm>
            <a:off x="1042416" y="3913632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Quién es María Pía, qué experiencia tiene y por qué puede guiar este proceso.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309360" y="3355848"/>
            <a:ext cx="4800600" cy="1078992"/>
          </a:xfrm>
          <a:prstGeom prst="roundRect">
            <a:avLst>
              <a:gd name="adj" fmla="val 10169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28816" y="3557016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F8FAFC"/>
                </a:solidFill>
              </a:rPr>
              <a:t>4. Para quién es / no es</a:t>
            </a:r>
            <a:endParaRPr lang="en-US" sz="1540" dirty="0"/>
          </a:p>
        </p:txBody>
      </p:sp>
      <p:sp>
        <p:nvSpPr>
          <p:cNvPr id="21" name="Text 19"/>
          <p:cNvSpPr/>
          <p:nvPr/>
        </p:nvSpPr>
        <p:spPr>
          <a:xfrm>
            <a:off x="6528816" y="3913632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Calificar: personas que quieren sostener hábitos reales, no atajos imposibles.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1463040" y="5486400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No vender el programa todavía. Primero hay que lograr que la persona diga: “esto es exactamente lo que me pasa”.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Bloques 5–7 · Construir el “por qué”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656" y="1188720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Acá mostramos la lógica del método antes de presentar la oferta.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17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  <p:sp>
        <p:nvSpPr>
          <p:cNvPr id="10" name="Shape 8"/>
          <p:cNvSpPr/>
          <p:nvPr/>
        </p:nvSpPr>
        <p:spPr>
          <a:xfrm>
            <a:off x="960120" y="1828800"/>
            <a:ext cx="3063240" cy="2468880"/>
          </a:xfrm>
          <a:prstGeom prst="roundRect">
            <a:avLst>
              <a:gd name="adj" fmla="val 4444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0848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8FAFC"/>
                </a:solidFill>
              </a:rPr>
              <a:t>5. Historia y descubrimiento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1216152" y="2834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Qué veía María Pía en sus alumnas, qué no funcionaba y qué patrón encontró.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828800"/>
            <a:ext cx="3063240" cy="2468880"/>
          </a:xfrm>
          <a:prstGeom prst="roundRect">
            <a:avLst>
              <a:gd name="adj" fmla="val 4444"/>
            </a:avLst>
          </a:prstGeom>
          <a:solidFill>
            <a:srgbClr val="182235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20848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2DD4BF"/>
                </a:solidFill>
              </a:rPr>
              <a:t>6. Nueva oportunidad / mecanismo</a:t>
            </a:r>
            <a:endParaRPr lang="en-US" sz="1560" dirty="0"/>
          </a:p>
        </p:txBody>
      </p:sp>
      <p:sp>
        <p:nvSpPr>
          <p:cNvPr id="15" name="Text 13"/>
          <p:cNvSpPr/>
          <p:nvPr/>
        </p:nvSpPr>
        <p:spPr>
          <a:xfrm>
            <a:off x="4919472" y="2834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El problema no es falta de voluntad: es seguir planes que no fueron diseñados para tu vida real.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66760" y="1828800"/>
            <a:ext cx="3063240" cy="2468880"/>
          </a:xfrm>
          <a:prstGeom prst="roundRect">
            <a:avLst>
              <a:gd name="adj" fmla="val 4444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77072" y="20848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8FAFC"/>
                </a:solidFill>
              </a:rPr>
              <a:t>7. Tres cambios de creencias</a:t>
            </a:r>
            <a:endParaRPr lang="en-US" sz="1560" dirty="0"/>
          </a:p>
        </p:txBody>
      </p:sp>
      <p:sp>
        <p:nvSpPr>
          <p:cNvPr id="18" name="Text 16"/>
          <p:cNvSpPr/>
          <p:nvPr/>
        </p:nvSpPr>
        <p:spPr>
          <a:xfrm>
            <a:off x="8622792" y="2834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Entrenar todos los días no es obligatorio. Comer perfecto no es necesario. La constancia depende de un sistema.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516636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Este tramo debe dejar una idea central: “no fallé porque soy incapaz; fallé porque el sistema anterior no era sostenible”.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Bloques 8–10 · Probar y presentar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656" y="1188720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Recién ahora presentamos el programa como solución concreta.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18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  <p:sp>
        <p:nvSpPr>
          <p:cNvPr id="10" name="Shape 8"/>
          <p:cNvSpPr/>
          <p:nvPr/>
        </p:nvSpPr>
        <p:spPr>
          <a:xfrm>
            <a:off x="960120" y="1828800"/>
            <a:ext cx="3063240" cy="2468880"/>
          </a:xfrm>
          <a:prstGeom prst="roundRect">
            <a:avLst>
              <a:gd name="adj" fmla="val 4444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0848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</a:rPr>
              <a:t>8. Prueba y casos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216152" y="2834640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CBD5E1"/>
                </a:solidFill>
              </a:rPr>
              <a:t>Mostrar avances reales: hábitos, constancia, mensajes, medidas, fuerza o transformación visual.</a:t>
            </a:r>
            <a:endParaRPr lang="en-US" sz="1270" dirty="0"/>
          </a:p>
        </p:txBody>
      </p:sp>
      <p:sp>
        <p:nvSpPr>
          <p:cNvPr id="13" name="Shape 11"/>
          <p:cNvSpPr/>
          <p:nvPr/>
        </p:nvSpPr>
        <p:spPr>
          <a:xfrm>
            <a:off x="4663440" y="1828800"/>
            <a:ext cx="3063240" cy="2468880"/>
          </a:xfrm>
          <a:prstGeom prst="roundRect">
            <a:avLst>
              <a:gd name="adj" fmla="val 4444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20848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</a:rPr>
              <a:t>9. Enemigos del progreso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919472" y="2834640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CBD5E1"/>
                </a:solidFill>
              </a:rPr>
              <a:t>Rutinas genéricas, dietas extremas, mentalidad todo/nada, falta de seguimiento.</a:t>
            </a:r>
            <a:endParaRPr lang="en-US" sz="1270" dirty="0"/>
          </a:p>
        </p:txBody>
      </p:sp>
      <p:sp>
        <p:nvSpPr>
          <p:cNvPr id="16" name="Shape 14"/>
          <p:cNvSpPr/>
          <p:nvPr/>
        </p:nvSpPr>
        <p:spPr>
          <a:xfrm>
            <a:off x="8366760" y="1828800"/>
            <a:ext cx="3063240" cy="2468880"/>
          </a:xfrm>
          <a:prstGeom prst="roundRect">
            <a:avLst>
              <a:gd name="adj" fmla="val 4444"/>
            </a:avLst>
          </a:prstGeom>
          <a:solidFill>
            <a:srgbClr val="182235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77072" y="20848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DD4BF"/>
                </a:solidFill>
              </a:rPr>
              <a:t>10. Presentación de la oferta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622792" y="2834640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CBD5E1"/>
                </a:solidFill>
              </a:rPr>
              <a:t>Qué incluye, cómo empieza, qué pasa cada semana, cómo se usa Skool y cuál es el resultado esperado.</a:t>
            </a:r>
            <a:endParaRPr lang="en-US" sz="1270" dirty="0"/>
          </a:p>
        </p:txBody>
      </p:sp>
      <p:sp>
        <p:nvSpPr>
          <p:cNvPr id="19" name="Text 17"/>
          <p:cNvSpPr/>
          <p:nvPr/>
        </p:nvSpPr>
        <p:spPr>
          <a:xfrm>
            <a:off x="1508760" y="5193792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La oferta entra después de haber explicado el problema, el mecanismo y la prueba. Así se siente como el siguiente paso lógico.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Bloques 11–12 · Cerrar con claridad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656" y="1188720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El cierre tiene que bajar incertidumbre y explicar el próximo paso.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19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  <p:sp>
        <p:nvSpPr>
          <p:cNvPr id="10" name="Shape 8"/>
          <p:cNvSpPr/>
          <p:nvPr/>
        </p:nvSpPr>
        <p:spPr>
          <a:xfrm>
            <a:off x="868680" y="1691640"/>
            <a:ext cx="5074920" cy="3429000"/>
          </a:xfrm>
          <a:prstGeom prst="roundRect">
            <a:avLst>
              <a:gd name="adj" fmla="val 3200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19568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11. Objeciones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2574036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07592" y="2487168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CBD5E1"/>
                </a:solidFill>
              </a:rPr>
              <a:t>No tengo tiempo.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43000" y="2958084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7592" y="2871216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CBD5E1"/>
                </a:solidFill>
              </a:rPr>
              <a:t>No tengo experiencia.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1143000" y="3342132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07592" y="3255264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CBD5E1"/>
                </a:solidFill>
              </a:rPr>
              <a:t>Entreno en casa.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1143000" y="3726180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07592" y="3639312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CBD5E1"/>
                </a:solidFill>
              </a:rPr>
              <a:t>Ya abandoné otros programas.</a:t>
            </a:r>
            <a:endParaRPr lang="en-US" sz="1260" dirty="0"/>
          </a:p>
        </p:txBody>
      </p:sp>
      <p:sp>
        <p:nvSpPr>
          <p:cNvPr id="20" name="Shape 18"/>
          <p:cNvSpPr/>
          <p:nvPr/>
        </p:nvSpPr>
        <p:spPr>
          <a:xfrm>
            <a:off x="1143000" y="4110228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07592" y="4023360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CBD5E1"/>
                </a:solidFill>
              </a:rPr>
              <a:t>No sé si la alimentación se adapta a mí.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1143000" y="4494276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07592" y="4407408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CBD5E1"/>
                </a:solidFill>
              </a:rPr>
              <a:t>Tengo lesión o limitación física.</a:t>
            </a:r>
            <a:endParaRPr lang="en-US" sz="1260" dirty="0"/>
          </a:p>
        </p:txBody>
      </p:sp>
      <p:sp>
        <p:nvSpPr>
          <p:cNvPr id="24" name="Shape 22"/>
          <p:cNvSpPr/>
          <p:nvPr/>
        </p:nvSpPr>
        <p:spPr>
          <a:xfrm>
            <a:off x="6263640" y="1691640"/>
            <a:ext cx="5074920" cy="3429000"/>
          </a:xfrm>
          <a:prstGeom prst="roundRect">
            <a:avLst>
              <a:gd name="adj" fmla="val 3200"/>
            </a:avLst>
          </a:prstGeom>
          <a:solidFill>
            <a:srgbClr val="182235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28816" y="19568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12. CTA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65392" y="26060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“Hacé clic en el botón debajo del video, completá el pago y después vas a recibir el formulario inicial con las instrucciones para entrar a la comunidad y empezar.”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65392" y="3822192"/>
            <a:ext cx="4251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</a:rPr>
              <a:t>No alcanza con decir “comprá ahora”. Tenemos que explicar qué ocurre después.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508760" y="5340096"/>
            <a:ext cx="9189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F8FAFC"/>
                </a:solidFill>
              </a:rPr>
              <a:t>Importante: usar urgencia real. Precio de lanzamiento, edición con fecha concreta o cupos reales de seguimiento.</a:t>
            </a:r>
            <a:endParaRPr lang="en-US" sz="16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749808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18388"/>
            <a:ext cx="1399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70A14"/>
                </a:solidFill>
              </a:rPr>
              <a:t>PÁGINA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658368" y="2057400"/>
            <a:ext cx="8183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poner el VSL en la web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94944" y="3218688"/>
            <a:ext cx="7909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La página no tiene que ser un folleto. Tiene que guiar a una sola decisión.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20</a:t>
            </a:r>
            <a:endParaRPr lang="en-US" sz="670" dirty="0"/>
          </a:p>
        </p:txBody>
      </p:sp>
      <p:sp>
        <p:nvSpPr>
          <p:cNvPr id="11" name="Text 9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web no debería tener solo el video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656" y="1188720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El VSL vende mucho más cuando la página refuerza el mensaje.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21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  <p:sp>
        <p:nvSpPr>
          <p:cNvPr id="10" name="Shape 8"/>
          <p:cNvSpPr/>
          <p:nvPr/>
        </p:nvSpPr>
        <p:spPr>
          <a:xfrm>
            <a:off x="786384" y="1627632"/>
            <a:ext cx="2304288" cy="585216"/>
          </a:xfrm>
          <a:prstGeom prst="roundRect">
            <a:avLst>
              <a:gd name="adj" fmla="val 18750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1828800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8FAFC"/>
                </a:solidFill>
              </a:rPr>
              <a:t>Título con promesa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3621024" y="1627632"/>
            <a:ext cx="2304288" cy="585216"/>
          </a:xfrm>
          <a:prstGeom prst="roundRect">
            <a:avLst>
              <a:gd name="adj" fmla="val 18750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58184" y="1828800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8FAFC"/>
                </a:solidFill>
              </a:rPr>
              <a:t>Subtítulo para quién es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455664" y="1627632"/>
            <a:ext cx="2304288" cy="585216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2824" y="1828800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8FAFC"/>
                </a:solidFill>
              </a:rPr>
              <a:t>VSL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9290304" y="1627632"/>
            <a:ext cx="2304288" cy="585216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27464" y="1828800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8FAFC"/>
                </a:solidFill>
              </a:rPr>
              <a:t>Botón principal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86384" y="2615184"/>
            <a:ext cx="2304288" cy="585216"/>
          </a:xfrm>
          <a:prstGeom prst="roundRect">
            <a:avLst>
              <a:gd name="adj" fmla="val 18750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" y="2816352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8FAFC"/>
                </a:solidFill>
              </a:rPr>
              <a:t>Prueba social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3621024" y="2615184"/>
            <a:ext cx="2304288" cy="585216"/>
          </a:xfrm>
          <a:prstGeom prst="roundRect">
            <a:avLst>
              <a:gd name="adj" fmla="val 18750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58184" y="2816352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8FAFC"/>
                </a:solidFill>
              </a:rPr>
              <a:t>Cómo funciona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455664" y="2615184"/>
            <a:ext cx="2304288" cy="585216"/>
          </a:xfrm>
          <a:prstGeom prst="roundRect">
            <a:avLst>
              <a:gd name="adj" fmla="val 18750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92824" y="2816352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8FAFC"/>
                </a:solidFill>
              </a:rPr>
              <a:t>Qué incluye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9290304" y="2615184"/>
            <a:ext cx="2304288" cy="585216"/>
          </a:xfrm>
          <a:prstGeom prst="roundRect">
            <a:avLst>
              <a:gd name="adj" fmla="val 18750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27464" y="2816352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8FAFC"/>
                </a:solidFill>
              </a:rPr>
              <a:t>Vista de Skool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786384" y="3602736"/>
            <a:ext cx="2304288" cy="585216"/>
          </a:xfrm>
          <a:prstGeom prst="roundRect">
            <a:avLst>
              <a:gd name="adj" fmla="val 18750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" y="3803904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8FAFC"/>
                </a:solidFill>
              </a:rPr>
              <a:t>Testimonios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3621024" y="3602736"/>
            <a:ext cx="2304288" cy="585216"/>
          </a:xfrm>
          <a:prstGeom prst="roundRect">
            <a:avLst>
              <a:gd name="adj" fmla="val 18750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58184" y="3803904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8FAFC"/>
                </a:solidFill>
              </a:rPr>
              <a:t>Para quién es / no es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6455664" y="3602736"/>
            <a:ext cx="2304288" cy="585216"/>
          </a:xfrm>
          <a:prstGeom prst="roundRect">
            <a:avLst>
              <a:gd name="adj" fmla="val 18750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92824" y="3803904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8FAFC"/>
                </a:solidFill>
              </a:rPr>
              <a:t>Precio y pago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9290304" y="3602736"/>
            <a:ext cx="2304288" cy="585216"/>
          </a:xfrm>
          <a:prstGeom prst="roundRect">
            <a:avLst>
              <a:gd name="adj" fmla="val 18750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27464" y="3803904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8FAFC"/>
                </a:solidFill>
              </a:rPr>
              <a:t>FAQs + CTA final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1234440" y="528523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Recomendación: quitar navegación innecesaria. No queremos que la persona se vaya a otra sección; queremos que mire el VSL y tome una decisión.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hablar de Skool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656" y="1188720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Skool debe aparecer como el sistema que ordena la experiencia, no como el beneficio principal.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22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  <p:sp>
        <p:nvSpPr>
          <p:cNvPr id="10" name="Shape 8"/>
          <p:cNvSpPr/>
          <p:nvPr/>
        </p:nvSpPr>
        <p:spPr>
          <a:xfrm>
            <a:off x="868680" y="1691640"/>
            <a:ext cx="5074920" cy="329184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1956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7185"/>
                </a:solidFill>
              </a:rPr>
              <a:t>No diría: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33856" y="2578608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“Vas a tener acceso a Skool, módulos, clases y comunidad.”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33856" y="351129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CBD5E1"/>
                </a:solidFill>
              </a:rPr>
              <a:t>Eso describe características. No muestra por qué le cambia la vida o le facilita sostener el proceso.</a:t>
            </a:r>
            <a:endParaRPr lang="en-US" sz="1430" dirty="0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5074920" cy="3291840"/>
          </a:xfrm>
          <a:prstGeom prst="roundRect">
            <a:avLst>
              <a:gd name="adj" fmla="val 3333"/>
            </a:avLst>
          </a:prstGeom>
          <a:solidFill>
            <a:srgbClr val="182235"/>
          </a:solidFill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8816" y="1956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</a:rPr>
              <a:t>Sí diría: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28816" y="2542032"/>
            <a:ext cx="43159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“Vas a tener todo el proceso ordenado para saber qué hacer primero, qué hacer después y dónde pedir ayuda cuando te trabes.”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28816" y="37033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CBD5E1"/>
                </a:solidFill>
              </a:rPr>
              <a:t>Después mostramos Skool visualmente durante unos segundos para bajar incertidumbre.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1645920" y="5504688"/>
            <a:ext cx="8887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Conclusión: Skool es el vehículo de entrega. La transformación es el producto.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Checkout y onboarding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656" y="1188720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La compra tiene que sentirse simple y el inicio tiene que estar ordenado.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23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  <p:sp>
        <p:nvSpPr>
          <p:cNvPr id="10" name="Shape 8"/>
          <p:cNvSpPr/>
          <p:nvPr/>
        </p:nvSpPr>
        <p:spPr>
          <a:xfrm>
            <a:off x="2011680" y="2770632"/>
            <a:ext cx="54864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03320" y="2770632"/>
            <a:ext cx="54864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94960" y="2770632"/>
            <a:ext cx="54864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086600" y="2770632"/>
            <a:ext cx="54864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778240" y="2770632"/>
            <a:ext cx="54864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234440" y="2350008"/>
            <a:ext cx="731520" cy="731520"/>
          </a:xfrm>
          <a:prstGeom prst="ellipse">
            <a:avLst/>
          </a:prstGeom>
          <a:solidFill>
            <a:srgbClr val="182235"/>
          </a:solidFill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2542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493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8FAFC"/>
                </a:solidFill>
              </a:rPr>
              <a:t>Miró el VSL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2926080" y="2350008"/>
            <a:ext cx="731520" cy="731520"/>
          </a:xfrm>
          <a:prstGeom prst="ellipse">
            <a:avLst/>
          </a:prstGeom>
          <a:solidFill>
            <a:srgbClr val="182235"/>
          </a:solidFill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2542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06040" y="3493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8FAFC"/>
                </a:solidFill>
              </a:rPr>
              <a:t>Clic en CTA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4617720" y="2350008"/>
            <a:ext cx="731520" cy="731520"/>
          </a:xfrm>
          <a:prstGeom prst="ellipse">
            <a:avLst/>
          </a:prstGeom>
          <a:solidFill>
            <a:srgbClr val="182235"/>
          </a:solidFill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542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97680" y="3493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8FAFC"/>
                </a:solidFill>
              </a:rPr>
              <a:t>Pago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6309360" y="2350008"/>
            <a:ext cx="731520" cy="731520"/>
          </a:xfrm>
          <a:prstGeom prst="ellipse">
            <a:avLst/>
          </a:prstGeom>
          <a:solidFill>
            <a:srgbClr val="182235"/>
          </a:solidFill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542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89320" y="3493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8FAFC"/>
                </a:solidFill>
              </a:rPr>
              <a:t>Formulario inicial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8001000" y="2350008"/>
            <a:ext cx="731520" cy="731520"/>
          </a:xfrm>
          <a:prstGeom prst="ellipse">
            <a:avLst/>
          </a:prstGeom>
          <a:solidFill>
            <a:srgbClr val="182235"/>
          </a:solidFill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01000" y="2542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680960" y="3493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8FAFC"/>
                </a:solidFill>
              </a:rPr>
              <a:t>Bienvenida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9692640" y="2350008"/>
            <a:ext cx="731520" cy="731520"/>
          </a:xfrm>
          <a:prstGeom prst="ellipse">
            <a:avLst/>
          </a:prstGeom>
          <a:solidFill>
            <a:srgbClr val="7C3AED"/>
          </a:solidFill>
          <a:ln w="1016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2542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372600" y="3493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8FAFC"/>
                </a:solidFill>
              </a:rPr>
              <a:t>Acceso a Skool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1325880" y="4754880"/>
            <a:ext cx="9372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Después de pagar, la persona no puede quedarse pensando “¿y ahora qué?”. El onboarding debe confirmar la decisión y decirle exactamente cuál es el primer paso.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1920240" y="5532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D4BF"/>
                </a:solidFill>
              </a:rPr>
              <a:t>Ideal: pago + formulario + mail/WhatsApp de bienvenida + acceso + primer módulo obligatorio.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749808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18388"/>
            <a:ext cx="1399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70A14"/>
                </a:solidFill>
              </a:rPr>
              <a:t>APLICACIÓN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658368" y="2057400"/>
            <a:ext cx="8183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Borrador de mensaje para María Pía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94944" y="3218688"/>
            <a:ext cx="7909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Una primera línea narrativa para que el VSL suene humano, claro y vendible.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24</a:t>
            </a:r>
            <a:endParaRPr lang="en-US" sz="670" dirty="0"/>
          </a:p>
        </p:txBody>
      </p:sp>
      <p:sp>
        <p:nvSpPr>
          <p:cNvPr id="11" name="Text 9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Borrador de apertura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656" y="1188720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No es el guion final, pero sí el tono que usaría para empezar.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25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  <p:sp>
        <p:nvSpPr>
          <p:cNvPr id="10" name="Shape 8"/>
          <p:cNvSpPr/>
          <p:nvPr/>
        </p:nvSpPr>
        <p:spPr>
          <a:xfrm>
            <a:off x="1005840" y="1664208"/>
            <a:ext cx="10195560" cy="3474720"/>
          </a:xfrm>
          <a:prstGeom prst="roundRect">
            <a:avLst>
              <a:gd name="adj" fmla="val 3158"/>
            </a:avLst>
          </a:prstGeom>
          <a:solidFill>
            <a:srgbClr val="182235"/>
          </a:solidFill>
          <a:ln w="1016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048256"/>
            <a:ext cx="932688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“Si hace meses que querés volver a entrenar, pero cada plan que empezás te dura solamente dos semanas, quiero que prestes atención a esto. Porque probablemente el problema no sea tu falta de voluntad. El problema es que venís intentando sostener rutinas y dietas que no fueron diseñadas para tu vida real. En este video te voy a mostrar cómo podés volver a entrenar con una estructura clara, mejorar tu alimentación sin extremos y avanzar acompañada, sin sentir que estás empezando de cero todos los lunes.”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691640" y="544068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Este comienzo toca dolor, elimina culpa, abre curiosidad y presenta la promesa sin sonar agresivo.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de grabación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656" y="1188720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Lo mínimo que necesitamos para que el VSL tenga calidad sin parecer sobreactuado.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26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  <p:sp>
        <p:nvSpPr>
          <p:cNvPr id="10" name="Text 8"/>
          <p:cNvSpPr/>
          <p:nvPr/>
        </p:nvSpPr>
        <p:spPr>
          <a:xfrm>
            <a:off x="841248" y="16642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25296" y="166420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F8FAFC"/>
                </a:solidFill>
              </a:rPr>
              <a:t>Guion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2990088" y="16642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BD5E1"/>
                </a:solidFill>
              </a:rPr>
              <a:t>No leer palabra por palabra. Usarlo como guía para sonar natural.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841248" y="2176272"/>
            <a:ext cx="4892040" cy="0"/>
          </a:xfrm>
          <a:prstGeom prst="line">
            <a:avLst/>
          </a:prstGeom>
          <a:noFill/>
          <a:ln w="762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16642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11696" y="166420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F8FAFC"/>
                </a:solidFill>
              </a:rPr>
              <a:t>Locación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8476488" y="16642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BD5E1"/>
                </a:solidFill>
              </a:rPr>
              <a:t>Fondo limpio, buena luz y relación con el mundo fitness.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327648" y="2176272"/>
            <a:ext cx="4892040" cy="0"/>
          </a:xfrm>
          <a:prstGeom prst="line">
            <a:avLst/>
          </a:prstGeom>
          <a:noFill/>
          <a:ln w="762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28986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25296" y="289864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F8FAFC"/>
                </a:solidFill>
              </a:rPr>
              <a:t>Audio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2990088" y="28986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BD5E1"/>
                </a:solidFill>
              </a:rPr>
              <a:t>Micrófono externo o ambiente silencioso. El audio pesa más que la cámara.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841248" y="3410712"/>
            <a:ext cx="4892040" cy="0"/>
          </a:xfrm>
          <a:prstGeom prst="line">
            <a:avLst/>
          </a:prstGeom>
          <a:noFill/>
          <a:ln w="762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28986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11696" y="289864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F8FAFC"/>
                </a:solidFill>
              </a:rPr>
              <a:t>Tomas extra</a:t>
            </a:r>
            <a:endParaRPr lang="en-US" sz="1380" dirty="0"/>
          </a:p>
        </p:txBody>
      </p:sp>
      <p:sp>
        <p:nvSpPr>
          <p:cNvPr id="24" name="Text 22"/>
          <p:cNvSpPr/>
          <p:nvPr/>
        </p:nvSpPr>
        <p:spPr>
          <a:xfrm>
            <a:off x="8476488" y="28986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BD5E1"/>
                </a:solidFill>
              </a:rPr>
              <a:t>Entrenando, planificando, mostrando ejemplos y capturas de Skool.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6327648" y="3410712"/>
            <a:ext cx="4892040" cy="0"/>
          </a:xfrm>
          <a:prstGeom prst="line">
            <a:avLst/>
          </a:prstGeom>
          <a:noFill/>
          <a:ln w="762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1330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25296" y="413308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F8FAFC"/>
                </a:solidFill>
              </a:rPr>
              <a:t>Pruebas</a:t>
            </a:r>
            <a:endParaRPr lang="en-US" sz="1380" dirty="0"/>
          </a:p>
        </p:txBody>
      </p:sp>
      <p:sp>
        <p:nvSpPr>
          <p:cNvPr id="28" name="Text 26"/>
          <p:cNvSpPr/>
          <p:nvPr/>
        </p:nvSpPr>
        <p:spPr>
          <a:xfrm>
            <a:off x="2990088" y="41330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BD5E1"/>
                </a:solidFill>
              </a:rPr>
              <a:t>Tener listos testimonios, capturas y casos antes de editar.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841248" y="4645152"/>
            <a:ext cx="4892040" cy="0"/>
          </a:xfrm>
          <a:prstGeom prst="line">
            <a:avLst/>
          </a:prstGeom>
          <a:noFill/>
          <a:ln w="762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27648" y="41330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11696" y="413308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F8FAFC"/>
                </a:solidFill>
              </a:rPr>
              <a:t>CTA</a:t>
            </a:r>
            <a:endParaRPr lang="en-US" sz="1380" dirty="0"/>
          </a:p>
        </p:txBody>
      </p:sp>
      <p:sp>
        <p:nvSpPr>
          <p:cNvPr id="32" name="Text 30"/>
          <p:cNvSpPr/>
          <p:nvPr/>
        </p:nvSpPr>
        <p:spPr>
          <a:xfrm>
            <a:off x="8476488" y="41330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BD5E1"/>
                </a:solidFill>
              </a:rPr>
              <a:t>Grabar varias versiones del cierre para testear cuál convierte mejor.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6327648" y="4645152"/>
            <a:ext cx="4892040" cy="0"/>
          </a:xfrm>
          <a:prstGeom prst="line">
            <a:avLst/>
          </a:prstGeom>
          <a:noFill/>
          <a:ln w="762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63040" y="5742432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El objetivo no es que parezca una producción perfecta. El objetivo es que se sienta confiable, clara y real.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Próximos pasos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656" y="1188720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Cómo lo bajaría a ejecución sin perder tiempo.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58368" y="64190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27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1207008" y="64190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Estrategia VSL · Coach Fitness Online</a:t>
            </a:r>
            <a:endParaRPr lang="en-US" sz="670" dirty="0"/>
          </a:p>
        </p:txBody>
      </p:sp>
      <p:sp>
        <p:nvSpPr>
          <p:cNvPr id="10" name="Text 8"/>
          <p:cNvSpPr/>
          <p:nvPr/>
        </p:nvSpPr>
        <p:spPr>
          <a:xfrm>
            <a:off x="822960" y="16733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1645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8FAFC"/>
                </a:solidFill>
              </a:rPr>
              <a:t>Definir oferta final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1325880" y="19751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CBD5E1"/>
                </a:solidFill>
              </a:rPr>
              <a:t>Precio, duración, formato, soporte, límites, bonus y garantía si aplica.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6309360" y="16733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12280" y="1645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8FAFC"/>
                </a:solidFill>
              </a:rPr>
              <a:t>Investigar lenguaje real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6812280" y="19751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CBD5E1"/>
                </a:solidFill>
              </a:rPr>
              <a:t>Hacer encuesta o entrevistas rápidas con potenciales alumnas.</a:t>
            </a:r>
            <a:endParaRPr lang="en-US" sz="1210" dirty="0"/>
          </a:p>
        </p:txBody>
      </p:sp>
      <p:sp>
        <p:nvSpPr>
          <p:cNvPr id="16" name="Text 14"/>
          <p:cNvSpPr/>
          <p:nvPr/>
        </p:nvSpPr>
        <p:spPr>
          <a:xfrm>
            <a:off x="822960" y="29077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2880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8FAFC"/>
                </a:solidFill>
              </a:rPr>
              <a:t>Escribir guion VSL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1325880" y="32095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CBD5E1"/>
                </a:solidFill>
              </a:rPr>
              <a:t>Versión completa con tiempos, frases, ejemplos y CTA.</a:t>
            </a:r>
            <a:endParaRPr lang="en-US" sz="1210" dirty="0"/>
          </a:p>
        </p:txBody>
      </p:sp>
      <p:sp>
        <p:nvSpPr>
          <p:cNvPr id="19" name="Text 17"/>
          <p:cNvSpPr/>
          <p:nvPr/>
        </p:nvSpPr>
        <p:spPr>
          <a:xfrm>
            <a:off x="6309360" y="29077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12280" y="2880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8FAFC"/>
                </a:solidFill>
              </a:rPr>
              <a:t>Preparar pruebas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6812280" y="32095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CBD5E1"/>
                </a:solidFill>
              </a:rPr>
              <a:t>Testimonios, capturas, casos, avances y contexto de cada resultado.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822960" y="41422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4114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8FAFC"/>
                </a:solidFill>
              </a:rPr>
              <a:t>Grabar y editar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1325880" y="44439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CBD5E1"/>
                </a:solidFill>
              </a:rPr>
              <a:t>María Pía en cámara + b-roll + subtítulos + versión mobile.</a:t>
            </a:r>
            <a:endParaRPr lang="en-US" sz="1210" dirty="0"/>
          </a:p>
        </p:txBody>
      </p:sp>
      <p:sp>
        <p:nvSpPr>
          <p:cNvPr id="25" name="Text 23"/>
          <p:cNvSpPr/>
          <p:nvPr/>
        </p:nvSpPr>
        <p:spPr>
          <a:xfrm>
            <a:off x="6309360" y="41422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12280" y="4114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8FAFC"/>
                </a:solidFill>
              </a:rPr>
              <a:t>Montar página</a:t>
            </a:r>
            <a:endParaRPr lang="en-US" sz="1520" dirty="0"/>
          </a:p>
        </p:txBody>
      </p:sp>
      <p:sp>
        <p:nvSpPr>
          <p:cNvPr id="27" name="Text 25"/>
          <p:cNvSpPr/>
          <p:nvPr/>
        </p:nvSpPr>
        <p:spPr>
          <a:xfrm>
            <a:off x="6812280" y="44439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CBD5E1"/>
                </a:solidFill>
              </a:rPr>
              <a:t>VSL, copy, checkout, FAQs, Skool preview y flujo de onboarding.</a:t>
            </a:r>
            <a:endParaRPr lang="en-US" sz="1210" dirty="0"/>
          </a:p>
        </p:txBody>
      </p:sp>
      <p:sp>
        <p:nvSpPr>
          <p:cNvPr id="28" name="Text 26"/>
          <p:cNvSpPr/>
          <p:nvPr/>
        </p:nvSpPr>
        <p:spPr>
          <a:xfrm>
            <a:off x="1508760" y="5669280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DD4BF"/>
                </a:solidFill>
              </a:rPr>
              <a:t>Una vez publicado, no lo daría por definitivo: medimos retención del video, clics en CTA, conversiones y objeciones frecuentes.</a:t>
            </a:r>
            <a:endParaRPr lang="en-US" sz="15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72784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46888"/>
            <a:ext cx="10744200" cy="0"/>
          </a:xfrm>
          <a:prstGeom prst="line">
            <a:avLst/>
          </a:prstGeom>
          <a:noFill/>
          <a:ln w="5715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347472"/>
            <a:ext cx="256032" cy="256032"/>
          </a:xfrm>
          <a:prstGeom prst="rect">
            <a:avLst>
              <a:gd name="adj" fmla="val 17857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0" y="3794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DIGITAL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Conclusión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13232" y="2267712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DD4BF"/>
                </a:solidFill>
              </a:rPr>
              <a:t>Sí usaría un VSL para esta página.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Pero lo construiría alrededor de la transformación: volver a entrenar con constancia, mejorar la alimentación y sentirse acompañada. Skool aparece como el sistema que ordena el camino, no como el motivo principal de compra.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6144768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NOVA DIGITAL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NOVA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Estrategia VSL para Coach Fitness Online</dc:title>
  <dc:subject>Estrategia VSL para coach fitness online</dc:subject>
  <dc:creator>NOVA DIGITAL</dc:creator>
  <cp:lastModifiedBy>NOVA DIGITAL</cp:lastModifiedBy>
  <cp:revision>1</cp:revision>
  <dcterms:created xsi:type="dcterms:W3CDTF">2026-08-03T10:11:39Z</dcterms:created>
  <dcterms:modified xsi:type="dcterms:W3CDTF">2026-08-03T10:11:39Z</dcterms:modified>
</cp:coreProperties>
</file>